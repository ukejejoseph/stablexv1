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6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D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095390" y="457200"/>
            <a:ext cx="0" cy="5486400"/>
          </a:xfrm>
          <a:prstGeom prst="line">
            <a:avLst/>
          </a:prstGeom>
          <a:ln w="12700">
            <a:solidFill>
              <a:srgbClr val="2E45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09728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0" b="1" i="0">
                <a:solidFill>
                  <a:srgbClr val="FFFFFF"/>
                </a:solidFill>
                <a:latin typeface="Georgia"/>
              </a:defRPr>
            </a:pPr>
            <a:r>
              <a:t>$92B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7472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 i="1">
                <a:solidFill>
                  <a:srgbClr val="A8BFD0"/>
                </a:solidFill>
                <a:latin typeface="Georgia"/>
              </a:defRPr>
            </a:pPr>
            <a:r>
              <a:t>in Nigerian crypto transactions.</a:t>
            </a:r>
            <a:br/>
            <a:r>
              <a:t>July 2024 — June 2025.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FD98A"/>
                </a:solidFill>
                <a:latin typeface="Georgia"/>
              </a:defRPr>
            </a:pPr>
            <a:r>
              <a:t>Not a single platform handles it well.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43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2E4558"/>
                </a:solidFill>
                <a:latin typeface="Georgia"/>
              </a:defRPr>
            </a:pPr>
            <a:r>
              <a:t>Chainalysis  ·  Breet State of Crypto Nigeria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457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FD98A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7315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Georgia"/>
              </a:defRPr>
            </a:pPr>
            <a:r>
              <a:t>Fragmented. </a:t>
            </a:r>
            <a:r>
              <a:rPr b="0" sz="1400">
                <a:solidFill>
                  <a:srgbClr val="A8BFD0"/>
                </a:solidFill>
                <a:latin typeface="Georgia"/>
              </a:rPr>
              <a:t>The average Nigerian crypto user opens 3–4 separate apps to complete one transaction. Every handoff leaks money.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2E4558"/>
                </a:solidFill>
                <a:latin typeface="Georgia"/>
              </a:defRPr>
            </a:pPr>
            <a:r>
              <a:t>Naira lost 75% of its value since 2016.</a:t>
            </a:r>
            <a:br/>
            <a:r>
              <a:t>Users are desperate — and trapped.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583680" y="2103120"/>
            <a:ext cx="5029200" cy="0"/>
          </a:xfrm>
          <a:prstGeom prst="line">
            <a:avLst/>
          </a:prstGeom>
          <a:ln w="12700">
            <a:solidFill>
              <a:srgbClr val="2E45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583680" y="2286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FD98A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5603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Georgia"/>
              </a:defRPr>
            </a:pPr>
            <a:r>
              <a:t>Opaque. </a:t>
            </a:r>
            <a:r>
              <a:rPr b="0" sz="1400">
                <a:solidFill>
                  <a:srgbClr val="A8BFD0"/>
                </a:solidFill>
                <a:latin typeface="Georgia"/>
              </a:rPr>
              <a:t>Fees appear only after the transaction confirms. On every Nigerian platform. There is no way to back out.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383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2E4558"/>
                </a:solidFill>
                <a:latin typeface="Georgia"/>
              </a:defRPr>
            </a:pPr>
            <a:r>
              <a:t>36% of Nigerian adults are unbanked.</a:t>
            </a:r>
            <a:br/>
            <a:r>
              <a:t>Crypto is their only financial tool.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583680" y="3931920"/>
            <a:ext cx="5029200" cy="0"/>
          </a:xfrm>
          <a:prstGeom prst="line">
            <a:avLst/>
          </a:prstGeom>
          <a:ln w="12700">
            <a:solidFill>
              <a:srgbClr val="2E45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583680" y="4114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FD98A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3891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Georgia"/>
              </a:defRPr>
            </a:pPr>
            <a:r>
              <a:t>Abandoned. </a:t>
            </a:r>
            <a:r>
              <a:rPr b="0" sz="1400">
                <a:solidFill>
                  <a:srgbClr val="A8BFD0"/>
                </a:solidFill>
                <a:latin typeface="Georgia"/>
              </a:rPr>
              <a:t>Binance and Bybit both exited Nigeria in 2024. 22 million active users were left with nowhere to go.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52120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2E4558"/>
                </a:solidFill>
                <a:latin typeface="Georgia"/>
              </a:defRPr>
            </a:pPr>
            <a:r>
              <a:t>Nigeria is #2 globally in crypto adoption.</a:t>
            </a:r>
            <a:br/>
            <a:r>
              <a:t>The demand is real. The infrastructure is not.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57200" y="6492240"/>
            <a:ext cx="11277295" cy="0"/>
          </a:xfrm>
          <a:prstGeom prst="line">
            <a:avLst/>
          </a:prstGeom>
          <a:ln w="12700">
            <a:solidFill>
              <a:srgbClr val="2E45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2E4558"/>
                </a:solidFill>
                <a:latin typeface="Arial"/>
              </a:defRPr>
            </a:pPr>
            <a:r>
              <a:t>STABLEX  ·  HACKATHON PRESENTATION  · 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2E4558"/>
                </a:solidFill>
                <a:latin typeface="Arial"/>
              </a:defRPr>
            </a:pPr>
            <a:r>
              <a:t>01 / 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6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0B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FD98A"/>
                </a:solidFill>
                <a:latin typeface="Arial"/>
              </a:defRPr>
            </a:pPr>
            <a:r>
              <a:t>WHY IT'S WORTH SOLVING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 i="0">
                <a:solidFill>
                  <a:srgbClr val="FFFFFF"/>
                </a:solidFill>
                <a:latin typeface="Georgia"/>
              </a:defRPr>
            </a:pPr>
            <a:r>
              <a:t>We looked at the data.</a:t>
            </a:r>
            <a:br/>
            <a:r>
              <a:t>Then we built.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2286000"/>
            <a:ext cx="11277295" cy="0"/>
          </a:xfrm>
          <a:prstGeom prst="line">
            <a:avLst/>
          </a:prstGeom>
          <a:ln w="12700">
            <a:solidFill>
              <a:srgbClr val="2E45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114800" y="2468880"/>
            <a:ext cx="0" cy="2743200"/>
          </a:xfrm>
          <a:prstGeom prst="line">
            <a:avLst/>
          </a:prstGeom>
          <a:ln w="12700">
            <a:solidFill>
              <a:srgbClr val="2E45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8046720" y="2468880"/>
            <a:ext cx="0" cy="2743200"/>
          </a:xfrm>
          <a:prstGeom prst="line">
            <a:avLst/>
          </a:prstGeom>
          <a:ln w="12700">
            <a:solidFill>
              <a:srgbClr val="2E45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2468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FD98A"/>
                </a:solidFill>
                <a:latin typeface="Arial"/>
              </a:defRPr>
            </a:pPr>
            <a:r>
              <a:t>MARKET SIZE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3464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200" b="1" i="0">
                <a:solidFill>
                  <a:srgbClr val="FFFFFF"/>
                </a:solidFill>
                <a:latin typeface="Georgia"/>
              </a:defRPr>
            </a:pPr>
            <a:r>
              <a:t>#2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404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A8BFD0"/>
                </a:solidFill>
                <a:latin typeface="Georgia"/>
              </a:defRPr>
            </a:pPr>
            <a:r>
              <a:t>Global crypto adoption rank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389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1FD98A"/>
                </a:solidFill>
                <a:latin typeface="Georgia"/>
              </a:defRPr>
            </a:pPr>
            <a:r>
              <a:t>Chainalysis 2024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7200" y="4709160"/>
            <a:ext cx="3200400" cy="0"/>
          </a:xfrm>
          <a:prstGeom prst="line">
            <a:avLst/>
          </a:prstGeom>
          <a:ln w="12700">
            <a:solidFill>
              <a:srgbClr val="2E45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57200" y="4800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2E4558"/>
                </a:solidFill>
                <a:latin typeface="Georgia"/>
              </a:defRPr>
            </a:pPr>
            <a:r>
              <a:t>—  $92.1B on-chain value  ·  12 months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0292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2E4558"/>
                </a:solidFill>
                <a:latin typeface="Georgia"/>
              </a:defRPr>
            </a:pPr>
            <a:r>
              <a:t>—  85% retail — not whales, everyday people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257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2E4558"/>
                </a:solidFill>
                <a:latin typeface="Georgia"/>
              </a:defRPr>
            </a:pPr>
            <a:r>
              <a:t>—  $2.4B projected market revenue  ·  2025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4864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2E4558"/>
                </a:solidFill>
                <a:latin typeface="Georgia"/>
              </a:defRPr>
            </a:pPr>
            <a:r>
              <a:t>—  22 million users  ·  10.3% of population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468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FD98A"/>
                </a:solidFill>
                <a:latin typeface="Arial"/>
              </a:defRPr>
            </a:pPr>
            <a:r>
              <a:t>USER PAIN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83464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200" b="1" i="0">
                <a:solidFill>
                  <a:srgbClr val="FFFFFF"/>
                </a:solidFill>
                <a:latin typeface="Georgia"/>
              </a:defRPr>
            </a:pPr>
            <a:r>
              <a:t>43%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8404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A8BFD0"/>
                </a:solidFill>
                <a:latin typeface="Georgia"/>
              </a:defRPr>
            </a:pPr>
            <a:r>
              <a:t>of retail volume is stablecoin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4389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1FD98A"/>
                </a:solidFill>
                <a:latin typeface="Georgia"/>
              </a:defRPr>
            </a:pPr>
            <a:r>
              <a:t>Naira hedge — not speculation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389120" y="4709160"/>
            <a:ext cx="3200400" cy="0"/>
          </a:xfrm>
          <a:prstGeom prst="line">
            <a:avLst/>
          </a:prstGeom>
          <a:ln w="12700">
            <a:solidFill>
              <a:srgbClr val="2E45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389120" y="4800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2E4558"/>
                </a:solidFill>
                <a:latin typeface="Georgia"/>
              </a:defRPr>
            </a:pPr>
            <a:r>
              <a:t>—  Naira lost 75% of value since 2016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50292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2E4558"/>
                </a:solidFill>
                <a:latin typeface="Georgia"/>
              </a:defRPr>
            </a:pPr>
            <a:r>
              <a:t>—  Inflation hit 24% in 2023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5257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2E4558"/>
                </a:solidFill>
                <a:latin typeface="Georgia"/>
              </a:defRPr>
            </a:pPr>
            <a:r>
              <a:t>—  52% of crypto users are under 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54864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2E4558"/>
                </a:solidFill>
                <a:latin typeface="Georgia"/>
              </a:defRPr>
            </a:pPr>
            <a:r>
              <a:t>—  Fees hidden until after confirmation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2468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FD98A"/>
                </a:solidFill>
                <a:latin typeface="Arial"/>
              </a:defRPr>
            </a:pPr>
            <a:r>
              <a:t>MARKET GAP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283464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200" b="1" i="0">
                <a:solidFill>
                  <a:srgbClr val="FFFFFF"/>
                </a:solidFill>
                <a:latin typeface="Georgia"/>
              </a:defRPr>
            </a:pPr>
            <a:r>
              <a:t>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38404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A8BFD0"/>
                </a:solidFill>
                <a:latin typeface="Georgia"/>
              </a:defRPr>
            </a:pPr>
            <a:r>
              <a:t>local platforms with full stack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4389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1FD98A"/>
                </a:solidFill>
                <a:latin typeface="Georgia"/>
              </a:defRPr>
            </a:pPr>
            <a:r>
              <a:t>Busha · Quidax · Patricia · Yellow Card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321040" y="4709160"/>
            <a:ext cx="3200400" cy="0"/>
          </a:xfrm>
          <a:prstGeom prst="line">
            <a:avLst/>
          </a:prstGeom>
          <a:ln w="12700">
            <a:solidFill>
              <a:srgbClr val="2E45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321040" y="4800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2E4558"/>
                </a:solidFill>
                <a:latin typeface="Georgia"/>
              </a:defRPr>
            </a:pPr>
            <a:r>
              <a:t>—  No local app: BTC + ETH + SOL + TRON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50292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2E4558"/>
                </a:solidFill>
                <a:latin typeface="Georgia"/>
              </a:defRPr>
            </a:pPr>
            <a:r>
              <a:t>—  Binance &amp; Bybit both exited 2024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5257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2E4558"/>
                </a:solidFill>
                <a:latin typeface="Georgia"/>
              </a:defRPr>
            </a:pPr>
            <a:r>
              <a:t>—  No custodial wallet + NGN on/off ramp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54864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2E4558"/>
                </a:solidFill>
                <a:latin typeface="Georgia"/>
              </a:defRPr>
            </a:pPr>
            <a:r>
              <a:t>—  This is the gap StableX was built for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669280"/>
            <a:ext cx="11277295" cy="731520"/>
          </a:xfrm>
          <a:prstGeom prst="rect">
            <a:avLst/>
          </a:prstGeom>
          <a:solidFill>
            <a:srgbClr val="F0B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5852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00000"/>
                </a:solidFill>
                <a:latin typeface="Georgia"/>
              </a:defRPr>
            </a:pPr>
            <a:r>
              <a:t>THE WINDOW IS NOW.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3657600" y="5897880"/>
            <a:ext cx="0" cy="27432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3886200" y="5879592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00000"/>
                </a:solidFill>
                <a:latin typeface="Georgia"/>
              </a:defRPr>
            </a:pPr>
            <a:r>
              <a:t>Binance &amp; Bybit exited. Regulation arrived. 22M users need a home. We built it.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457200" y="6492240"/>
            <a:ext cx="11277295" cy="0"/>
          </a:xfrm>
          <a:prstGeom prst="line">
            <a:avLst/>
          </a:prstGeom>
          <a:ln w="12700">
            <a:solidFill>
              <a:srgbClr val="2E45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2E4558"/>
                </a:solidFill>
                <a:latin typeface="Arial"/>
              </a:defRPr>
            </a:pPr>
            <a:r>
              <a:t>STABLEX  ·  HACKATHON PRESENTATION  ·  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2E4558"/>
                </a:solidFill>
                <a:latin typeface="Arial"/>
              </a:defRPr>
            </a:pPr>
            <a:r>
              <a:t>02 /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6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D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095390" y="457200"/>
            <a:ext cx="0" cy="5486400"/>
          </a:xfrm>
          <a:prstGeom prst="line">
            <a:avLst/>
          </a:prstGeom>
          <a:ln w="12700">
            <a:solidFill>
              <a:srgbClr val="2E45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457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FD98A"/>
                </a:solidFill>
                <a:latin typeface="Arial"/>
              </a:defRPr>
            </a:pPr>
            <a:r>
              <a:t>WHAT WE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 i="0">
                <a:solidFill>
                  <a:srgbClr val="FFFFFF"/>
                </a:solidFill>
                <a:latin typeface="Georgia"/>
              </a:defRPr>
            </a:pPr>
            <a:r>
              <a:t>StableX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1">
                <a:solidFill>
                  <a:srgbClr val="A8BFD0"/>
                </a:solidFill>
                <a:latin typeface="Georgia"/>
              </a:defRPr>
            </a:pPr>
            <a:r>
              <a:t>Nigeria's All-In-One</a:t>
            </a:r>
            <a:br/>
            <a:r>
              <a:t>Crypto Finance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91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FD98A"/>
                </a:solidFill>
                <a:latin typeface="Arial"/>
              </a:defRPr>
            </a:pPr>
            <a:r>
              <a:t>SHIPPED AS A WORKING MVP: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657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A8BFD0"/>
                </a:solidFill>
                <a:latin typeface="Georgia"/>
              </a:defRPr>
            </a:pPr>
            <a:r>
              <a:t>—  4 live blockchains: BTC, ETH, SOL, TRON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023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A8BFD0"/>
                </a:solidFill>
                <a:latin typeface="Georgia"/>
              </a:defRPr>
            </a:pPr>
            <a:r>
              <a:t>—  Real sweep bots: automated fund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389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A8BFD0"/>
                </a:solidFill>
                <a:latin typeface="Georgia"/>
              </a:defRPr>
            </a:pPr>
            <a:r>
              <a:t>—  KoraPay + Interswitch NGN on/off ramp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754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A8BFD0"/>
                </a:solidFill>
                <a:latin typeface="Georgia"/>
              </a:defRPr>
            </a:pPr>
            <a:r>
              <a:t>—  Custodial wallets with AES-256 encryption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3657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A8BFD0"/>
                </a:solidFill>
                <a:latin typeface="Georgia"/>
              </a:defRPr>
            </a:pPr>
            <a:r>
              <a:t>—  Staking &amp; Earn: 8% APY yield product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4023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A8BFD0"/>
                </a:solidFill>
                <a:latin typeface="Georgia"/>
              </a:defRPr>
            </a:pPr>
            <a:r>
              <a:t>—  Merchant &amp; Developer API with webhooks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4389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A8BFD0"/>
                </a:solidFill>
                <a:latin typeface="Georgia"/>
              </a:defRPr>
            </a:pPr>
            <a:r>
              <a:t>—  Gift cards via Reloadly integration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4754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A8BFD0"/>
                </a:solidFill>
                <a:latin typeface="Georgia"/>
              </a:defRPr>
            </a:pPr>
            <a:r>
              <a:t>—  JWT + OTP + Google OAuth full auth stack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303520"/>
            <a:ext cx="5029200" cy="548640"/>
          </a:xfrm>
          <a:prstGeom prst="rect">
            <a:avLst/>
          </a:prstGeom>
          <a:solidFill>
            <a:srgbClr val="030608"/>
          </a:solidFill>
          <a:ln w="19050">
            <a:solidFill>
              <a:srgbClr val="1FD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5486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1FD98A"/>
                </a:solidFill>
                <a:latin typeface="Georgia"/>
              </a:defRPr>
            </a:pPr>
            <a:r>
              <a:t>LIVE NOW →  stablexv1-production.up.railway.app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57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FD98A"/>
                </a:solidFill>
                <a:latin typeface="Arial"/>
              </a:defRPr>
            </a:pPr>
            <a:r>
              <a:t>PRODUCT DEMO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822960"/>
            <a:ext cx="5029200" cy="5029200"/>
          </a:xfrm>
          <a:prstGeom prst="rect">
            <a:avLst/>
          </a:prstGeom>
          <a:solidFill>
            <a:srgbClr val="0A1014"/>
          </a:solidFill>
          <a:ln w="12700">
            <a:solidFill>
              <a:srgbClr val="2E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6583680" y="822960"/>
            <a:ext cx="5029200" cy="0"/>
          </a:xfrm>
          <a:prstGeom prst="line">
            <a:avLst/>
          </a:prstGeom>
          <a:ln w="25400">
            <a:solidFill>
              <a:srgbClr val="1FD9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732520" y="2971800"/>
            <a:ext cx="731520" cy="731520"/>
          </a:xfrm>
          <a:prstGeom prst="ellipse">
            <a:avLst/>
          </a:prstGeom>
          <a:noFill/>
          <a:ln w="19050">
            <a:solidFill>
              <a:srgbClr val="1FD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Isosceles Triangle 21"/>
          <p:cNvSpPr/>
          <p:nvPr/>
        </p:nvSpPr>
        <p:spPr>
          <a:xfrm rot="5400000">
            <a:off x="9006840" y="3154680"/>
            <a:ext cx="228600" cy="365760"/>
          </a:xfrm>
          <a:prstGeom prst="triangle">
            <a:avLst/>
          </a:prstGeom>
          <a:solidFill>
            <a:srgbClr val="1FD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39319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2E4558"/>
                </a:solidFill>
                <a:latin typeface="Arial"/>
              </a:defRPr>
            </a:pPr>
            <a:r>
              <a:t>INSERT DEMO VIDEO  ·  4 MINUTES MAX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57200" y="6492240"/>
            <a:ext cx="11277295" cy="0"/>
          </a:xfrm>
          <a:prstGeom prst="line">
            <a:avLst/>
          </a:prstGeom>
          <a:ln w="12700">
            <a:solidFill>
              <a:srgbClr val="2E45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2E4558"/>
                </a:solidFill>
                <a:latin typeface="Arial"/>
              </a:defRPr>
            </a:pPr>
            <a:r>
              <a:t>STABLEX  ·  HACKATHON PRESENTATION  · 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2E4558"/>
                </a:solidFill>
                <a:latin typeface="Arial"/>
              </a:defRPr>
            </a:pPr>
            <a:r>
              <a:t>03 / 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